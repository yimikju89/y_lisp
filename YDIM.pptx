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2184" y="12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F052CB-8A5B-9C8F-D546-D8371E4487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7C0F0BB-F3A9-1FF3-01D5-78B659F8F6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08C89D-6F75-9ECC-CAD6-15B8BB193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17741-E0C8-4B4B-A057-E55E937943F6}" type="datetimeFigureOut">
              <a:rPr lang="ko-KR" altLang="en-US" smtClean="0"/>
              <a:t>2025-05-19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76FC1A3-3B32-79AE-CED5-4AEB45812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FEA661F-204D-0D75-0C42-588F5375F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80645-8488-452B-8E48-84CF655B16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047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3925BA-1705-C02F-071F-DB03BCEDD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08DEBEB-B4A6-E261-6870-3C66497E87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EB718C-D7B2-DFBC-D00E-47763C232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17741-E0C8-4B4B-A057-E55E937943F6}" type="datetimeFigureOut">
              <a:rPr lang="ko-KR" altLang="en-US" smtClean="0"/>
              <a:t>2025-05-19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134E00-A484-877D-5513-F4DA96743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3AEE9D5-86EE-CC5C-5597-599FC868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80645-8488-452B-8E48-84CF655B16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9918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115BD3-DDF0-479F-D082-722372390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88CB66-0394-995A-E0D5-98DDC64B65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0396D9-BB31-1578-9615-360ABCE77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17741-E0C8-4B4B-A057-E55E937943F6}" type="datetimeFigureOut">
              <a:rPr lang="ko-KR" altLang="en-US" smtClean="0"/>
              <a:t>2025-05-19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2197DC2-39BF-C8E9-6955-F349C111C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04096C-6A92-835C-80C5-47DE19C2D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80645-8488-452B-8E48-84CF655B16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27183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DE2466-BC34-605D-0BC5-C8EA241F9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F2B7C4-0C8B-D739-F4EE-DF42350970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8B42699-0C82-6421-5C64-DF26CC22DC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6C4EC47-56FD-B566-5C28-E77B527F3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17741-E0C8-4B4B-A057-E55E937943F6}" type="datetimeFigureOut">
              <a:rPr lang="ko-KR" altLang="en-US" smtClean="0"/>
              <a:t>2025-05-19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E76C7BD-5BE6-BAB6-62F7-C86E38D8E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667E5C2-86AE-F3CA-876F-73572D754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80645-8488-452B-8E48-84CF655B16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1863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303983-8E7F-FC64-3658-D3DCAA704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581DDEF-9E7A-624A-5B04-5C2392C8F4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B09E7DF-D147-A669-AEB8-3A29E63641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C82179C-417A-C4D5-81AD-3F4F5416C6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5026529-B86D-2BBC-8448-476C6C1E50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9AC0D26-78F3-72C3-34C4-7AA77CA5E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17741-E0C8-4B4B-A057-E55E937943F6}" type="datetimeFigureOut">
              <a:rPr lang="ko-KR" altLang="en-US" smtClean="0"/>
              <a:t>2025-05-19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3495070-18DF-6C7B-CB20-E7D0E699C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ADA43DA-C767-51FD-503D-8E157248F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80645-8488-452B-8E48-84CF655B16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16982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715B5B-62BA-40A7-1A34-C4AA98EA9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0AB7473-2A77-47C4-E1D1-3E907DB3C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17741-E0C8-4B4B-A057-E55E937943F6}" type="datetimeFigureOut">
              <a:rPr lang="ko-KR" altLang="en-US" smtClean="0"/>
              <a:t>2025-05-19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A07EB28-52B2-C52F-58D1-D31904EFC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E0750EF-93C5-04D7-C94F-6E88C75F1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80645-8488-452B-8E48-84CF655B16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6342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E6170CA-E81A-B339-481F-DFD35B633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17741-E0C8-4B4B-A057-E55E937943F6}" type="datetimeFigureOut">
              <a:rPr lang="ko-KR" altLang="en-US" smtClean="0"/>
              <a:t>2025-05-19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85C3ED6-4A1D-A694-285C-01217113C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E979FFC-8FC0-B262-8966-115CE81ED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80645-8488-452B-8E48-84CF655B16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84648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70F571-8B02-D506-CC7A-3BD98E65D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372A15-9910-4ABA-FC3D-EFB413BDEE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62711C6-8248-28FD-A8F8-CBBC1E2ACA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57BFCA-D605-75BC-9A32-E3C0E4409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17741-E0C8-4B4B-A057-E55E937943F6}" type="datetimeFigureOut">
              <a:rPr lang="ko-KR" altLang="en-US" smtClean="0"/>
              <a:t>2025-05-19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3FA0504-D4CC-77EF-2EAB-042C0AB22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E006546-103F-8527-88F6-1B87FAB75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80645-8488-452B-8E48-84CF655B16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3319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AEC17B-D02A-5B99-C76E-8CD7435B8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71000A4-81AA-2A7A-664B-62383AEE10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654CDEC-1D73-F383-4709-EA7EFB6C2B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045EB1F-4102-FD1D-5229-7132D9FC9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17741-E0C8-4B4B-A057-E55E937943F6}" type="datetimeFigureOut">
              <a:rPr lang="ko-KR" altLang="en-US" smtClean="0"/>
              <a:t>2025-05-19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2626D0F-1F35-BC4D-D467-3A9B895BC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00D8333-43F9-9F0F-BF0B-55F2B334F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80645-8488-452B-8E48-84CF655B16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64623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3EEC80-D58A-8294-983A-8E1A0C325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9F3E5E1-ADFB-7443-3107-A5B588D444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31BF52-0B8D-0977-068F-6E52C0499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17741-E0C8-4B4B-A057-E55E937943F6}" type="datetimeFigureOut">
              <a:rPr lang="ko-KR" altLang="en-US" smtClean="0"/>
              <a:t>2025-05-19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815D4D9-AC90-EB6A-B0F9-BE27B61FC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9BC24A-5AC2-F65A-F361-3FAE61F5A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80645-8488-452B-8E48-84CF655B16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9090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EE5FD82-B89A-9330-B1E3-56692B6745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60B4D44-EDBF-5312-DEAF-9D32A85F32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299DE2-4C72-88D3-A2BE-30E6E420D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17741-E0C8-4B4B-A057-E55E937943F6}" type="datetimeFigureOut">
              <a:rPr lang="ko-KR" altLang="en-US" smtClean="0"/>
              <a:t>2025-05-19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78ABAC7-59E5-2880-3900-75D3DF831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91338E-76BD-CBB1-C69C-8B89601AF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80645-8488-452B-8E48-84CF655B16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5570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4BB6889-516E-15EC-AD69-AE2E8B29B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13A8362-EC92-5367-080F-774F4DFBF8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F1A7598-8DAE-3401-C8C6-F60A60E395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117741-E0C8-4B4B-A057-E55E937943F6}" type="datetimeFigureOut">
              <a:rPr lang="ko-KR" altLang="en-US" smtClean="0"/>
              <a:t>2025-05-19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0A0412F-DCD0-F69C-69D0-80EA3B60A2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B320B93-8B15-FE42-57C0-2DCA766BEE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780645-8488-452B-8E48-84CF655B16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86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9FCEC7F9-C3FE-5FDC-FF05-D7DAB91448F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9047" b="31098"/>
          <a:stretch/>
        </p:blipFill>
        <p:spPr>
          <a:xfrm>
            <a:off x="0" y="1390650"/>
            <a:ext cx="3444695" cy="376708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B4C4C47-F05F-DCE9-1946-B748886AAD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365"/>
          <a:stretch/>
        </p:blipFill>
        <p:spPr>
          <a:xfrm>
            <a:off x="5443930" y="1390650"/>
            <a:ext cx="6748070" cy="54673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35E5447-9254-EC5E-E0B5-6DCD6089B66D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bg1"/>
                </a:solidFill>
              </a:rPr>
              <a:t>YDIM3 : 3</a:t>
            </a:r>
            <a:r>
              <a:rPr lang="ko-KR" altLang="en-US" sz="2400" b="1" dirty="0">
                <a:solidFill>
                  <a:schemeClr val="bg1"/>
                </a:solidFill>
              </a:rPr>
              <a:t>단 </a:t>
            </a:r>
            <a:r>
              <a:rPr lang="ko-KR" altLang="en-US" sz="2400" b="1" dirty="0" err="1">
                <a:solidFill>
                  <a:schemeClr val="bg1"/>
                </a:solidFill>
              </a:rPr>
              <a:t>치수선</a:t>
            </a:r>
            <a:r>
              <a:rPr lang="ko-KR" altLang="en-US" sz="2400" b="1" dirty="0">
                <a:solidFill>
                  <a:schemeClr val="bg1"/>
                </a:solidFill>
              </a:rPr>
              <a:t> 자동 생성</a:t>
            </a:r>
          </a:p>
        </p:txBody>
      </p:sp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1123016A-6C11-76DC-F23C-CB6166F04E4E}"/>
              </a:ext>
            </a:extLst>
          </p:cNvPr>
          <p:cNvSpPr/>
          <p:nvPr/>
        </p:nvSpPr>
        <p:spPr>
          <a:xfrm>
            <a:off x="4198847" y="2655067"/>
            <a:ext cx="490930" cy="1238250"/>
          </a:xfrm>
          <a:prstGeom prst="rightArrow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5C4D13-7001-6961-6383-2A4A66E67950}"/>
              </a:ext>
            </a:extLst>
          </p:cNvPr>
          <p:cNvSpPr txBox="1"/>
          <p:nvPr/>
        </p:nvSpPr>
        <p:spPr>
          <a:xfrm>
            <a:off x="247650" y="556825"/>
            <a:ext cx="11944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참조 치수선과 동일한 스타일의 상</a:t>
            </a:r>
            <a:r>
              <a:rPr lang="en-US" altLang="ko-KR" b="1" dirty="0"/>
              <a:t>/</a:t>
            </a:r>
            <a:r>
              <a:rPr lang="ko-KR" altLang="en-US" b="1" dirty="0"/>
              <a:t>하</a:t>
            </a:r>
            <a:r>
              <a:rPr lang="en-US" altLang="ko-KR" b="1" dirty="0"/>
              <a:t>/</a:t>
            </a:r>
            <a:r>
              <a:rPr lang="ko-KR" altLang="en-US" b="1" dirty="0"/>
              <a:t>좌</a:t>
            </a:r>
            <a:r>
              <a:rPr lang="en-US" altLang="ko-KR" b="1" dirty="0"/>
              <a:t>/</a:t>
            </a:r>
            <a:r>
              <a:rPr lang="ko-KR" altLang="en-US" b="1" dirty="0"/>
              <a:t>우 </a:t>
            </a:r>
            <a:r>
              <a:rPr lang="ko-KR" altLang="en-US" b="1" dirty="0" err="1"/>
              <a:t>치수선</a:t>
            </a:r>
            <a:r>
              <a:rPr lang="ko-KR" altLang="en-US" b="1" dirty="0"/>
              <a:t> 자동 생성 기능</a:t>
            </a: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680D3482-C49B-7407-7D3B-C7BDE474E6BF}"/>
              </a:ext>
            </a:extLst>
          </p:cNvPr>
          <p:cNvGrpSpPr/>
          <p:nvPr/>
        </p:nvGrpSpPr>
        <p:grpSpPr>
          <a:xfrm>
            <a:off x="6418943" y="1518667"/>
            <a:ext cx="1016000" cy="543889"/>
            <a:chOff x="4018330" y="1528026"/>
            <a:chExt cx="1016000" cy="54388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AC37AA0-3B6A-CD01-E786-09F3F90836EF}"/>
                </a:ext>
              </a:extLst>
            </p:cNvPr>
            <p:cNvSpPr txBox="1"/>
            <p:nvPr/>
          </p:nvSpPr>
          <p:spPr>
            <a:xfrm rot="20404380">
              <a:off x="4018330" y="1702583"/>
              <a:ext cx="1016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b="1" dirty="0" err="1">
                  <a:solidFill>
                    <a:schemeClr val="bg1"/>
                  </a:solidFill>
                </a:rPr>
                <a:t>짜잔</a:t>
              </a:r>
              <a:r>
                <a:rPr lang="en-US" altLang="ko-KR" b="1" dirty="0">
                  <a:solidFill>
                    <a:schemeClr val="bg1"/>
                  </a:solidFill>
                </a:rPr>
                <a:t>!</a:t>
              </a:r>
              <a:endParaRPr lang="ko-KR" altLang="en-US" b="1" dirty="0">
                <a:solidFill>
                  <a:schemeClr val="bg1"/>
                </a:solidFill>
              </a:endParaRPr>
            </a:p>
          </p:txBody>
        </p:sp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11E6190C-2B55-5B73-EE75-4B4B83CF604F}"/>
                </a:ext>
              </a:extLst>
            </p:cNvPr>
            <p:cNvGrpSpPr/>
            <p:nvPr/>
          </p:nvGrpSpPr>
          <p:grpSpPr>
            <a:xfrm rot="18061432">
              <a:off x="3925396" y="1642630"/>
              <a:ext cx="427375" cy="198168"/>
              <a:chOff x="4603680" y="1283997"/>
              <a:chExt cx="427375" cy="198168"/>
            </a:xfrm>
          </p:grpSpPr>
          <p:cxnSp>
            <p:nvCxnSpPr>
              <p:cNvPr id="16" name="직선 연결선 15">
                <a:extLst>
                  <a:ext uri="{FF2B5EF4-FFF2-40B4-BE49-F238E27FC236}">
                    <a16:creationId xmlns:a16="http://schemas.microsoft.com/office/drawing/2014/main" id="{9EB3E9C7-EAC6-6B49-C021-E805DAD6E1E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778442" y="1283997"/>
                <a:ext cx="0" cy="172853"/>
              </a:xfrm>
              <a:prstGeom prst="line">
                <a:avLst/>
              </a:prstGeom>
              <a:ln w="76200" cap="rnd">
                <a:solidFill>
                  <a:srgbClr val="FFC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직선 연결선 36">
                <a:extLst>
                  <a:ext uri="{FF2B5EF4-FFF2-40B4-BE49-F238E27FC236}">
                    <a16:creationId xmlns:a16="http://schemas.microsoft.com/office/drawing/2014/main" id="{1F40B4EA-0556-ACC5-D08B-2A1B8DE753EF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4944629" y="1309311"/>
                <a:ext cx="0" cy="172853"/>
              </a:xfrm>
              <a:prstGeom prst="line">
                <a:avLst/>
              </a:prstGeom>
              <a:ln w="76200" cap="rnd">
                <a:solidFill>
                  <a:srgbClr val="FFC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직선 연결선 37">
                <a:extLst>
                  <a:ext uri="{FF2B5EF4-FFF2-40B4-BE49-F238E27FC236}">
                    <a16:creationId xmlns:a16="http://schemas.microsoft.com/office/drawing/2014/main" id="{A5921A4D-B6FE-EEEC-ED72-79942C6DC7CB}"/>
                  </a:ext>
                </a:extLst>
              </p:cNvPr>
              <p:cNvCxnSpPr>
                <a:cxnSpLocks/>
              </p:cNvCxnSpPr>
              <p:nvPr/>
            </p:nvCxnSpPr>
            <p:spPr>
              <a:xfrm rot="-2700000" flipV="1">
                <a:off x="4603680" y="1309312"/>
                <a:ext cx="0" cy="172853"/>
              </a:xfrm>
              <a:prstGeom prst="line">
                <a:avLst/>
              </a:prstGeom>
              <a:ln w="76200" cap="rnd">
                <a:solidFill>
                  <a:srgbClr val="FFC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7C7652DB-28C3-0899-D0E6-5F24EECF9FDF}"/>
              </a:ext>
            </a:extLst>
          </p:cNvPr>
          <p:cNvSpPr txBox="1"/>
          <p:nvPr/>
        </p:nvSpPr>
        <p:spPr>
          <a:xfrm>
            <a:off x="1722347" y="2211811"/>
            <a:ext cx="152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b="1">
                <a:solidFill>
                  <a:schemeClr val="bg1"/>
                </a:solidFill>
              </a:defRPr>
            </a:lvl1pPr>
          </a:lstStyle>
          <a:p>
            <a:r>
              <a:rPr lang="ko-KR" altLang="en-US" sz="1600" dirty="0"/>
              <a:t>참조 </a:t>
            </a:r>
            <a:r>
              <a:rPr lang="ko-KR" altLang="en-US" sz="1600" dirty="0" err="1"/>
              <a:t>치수선</a:t>
            </a:r>
            <a:endParaRPr lang="ko-KR" altLang="en-US" sz="1600" dirty="0"/>
          </a:p>
        </p:txBody>
      </p: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9233BC26-21EE-63AD-9AF6-669157024F9D}"/>
              </a:ext>
            </a:extLst>
          </p:cNvPr>
          <p:cNvCxnSpPr>
            <a:cxnSpLocks/>
          </p:cNvCxnSpPr>
          <p:nvPr/>
        </p:nvCxnSpPr>
        <p:spPr>
          <a:xfrm flipV="1">
            <a:off x="1835150" y="1901124"/>
            <a:ext cx="0" cy="346748"/>
          </a:xfrm>
          <a:prstGeom prst="straightConnector1">
            <a:avLst/>
          </a:prstGeom>
          <a:ln w="57150" cap="rnd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64034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2D8CB02-799A-5BF5-FCEA-01B6C8A958F9}"/>
              </a:ext>
            </a:extLst>
          </p:cNvPr>
          <p:cNvSpPr txBox="1"/>
          <p:nvPr/>
        </p:nvSpPr>
        <p:spPr>
          <a:xfrm>
            <a:off x="247650" y="556825"/>
            <a:ext cx="11944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단축키</a:t>
            </a:r>
            <a:r>
              <a:rPr lang="en-US" altLang="ko-KR" b="1" dirty="0"/>
              <a:t>(APPLOAD) </a:t>
            </a:r>
            <a:r>
              <a:rPr lang="ko-KR" altLang="en-US" b="1" dirty="0"/>
              <a:t>통해서 </a:t>
            </a:r>
            <a:r>
              <a:rPr lang="en-US" altLang="ko-KR" b="1" dirty="0" err="1"/>
              <a:t>lsp</a:t>
            </a:r>
            <a:r>
              <a:rPr lang="en-US" altLang="ko-KR" b="1" dirty="0"/>
              <a:t> </a:t>
            </a:r>
            <a:r>
              <a:rPr lang="ko-KR" altLang="en-US" b="1" dirty="0"/>
              <a:t>파일 로드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0D14A8-8767-1DE6-D0B1-AD40C6F54CEE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</a:rPr>
              <a:t>사용방법 </a:t>
            </a:r>
            <a:r>
              <a:rPr lang="en-US" altLang="ko-KR" sz="2400" b="1" dirty="0">
                <a:solidFill>
                  <a:schemeClr val="bg1"/>
                </a:solidFill>
              </a:rPr>
              <a:t>– </a:t>
            </a:r>
            <a:r>
              <a:rPr lang="ko-KR" altLang="en-US" sz="2400" b="1" dirty="0" err="1">
                <a:solidFill>
                  <a:schemeClr val="bg1"/>
                </a:solidFill>
              </a:rPr>
              <a:t>리습</a:t>
            </a:r>
            <a:r>
              <a:rPr lang="ko-KR" altLang="en-US" sz="2400" b="1" dirty="0">
                <a:solidFill>
                  <a:schemeClr val="bg1"/>
                </a:solidFill>
              </a:rPr>
              <a:t> </a:t>
            </a:r>
            <a:r>
              <a:rPr lang="en-US" altLang="ko-KR" sz="2400" b="1" dirty="0">
                <a:solidFill>
                  <a:schemeClr val="bg1"/>
                </a:solidFill>
              </a:rPr>
              <a:t>Load</a:t>
            </a:r>
            <a:endParaRPr lang="ko-KR" altLang="en-US" sz="2400" b="1" dirty="0">
              <a:solidFill>
                <a:schemeClr val="bg1"/>
              </a:solidFill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40489A3-81E3-6629-BA60-994700FB78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612" y="1062425"/>
            <a:ext cx="5915025" cy="523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3421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2D3B2-879B-28FF-1269-A227C810A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29C3E82-6C57-30F2-E432-7F0D498757A9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</a:rPr>
              <a:t>사용방법 </a:t>
            </a:r>
            <a:r>
              <a:rPr lang="en-US" altLang="ko-KR" sz="2400" b="1" dirty="0">
                <a:solidFill>
                  <a:schemeClr val="bg1"/>
                </a:solidFill>
              </a:rPr>
              <a:t>– </a:t>
            </a:r>
            <a:r>
              <a:rPr lang="ko-KR" altLang="en-US" sz="2400" b="1" dirty="0">
                <a:solidFill>
                  <a:schemeClr val="bg1"/>
                </a:solidFill>
              </a:rPr>
              <a:t>입력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003529-E96C-F412-FBF8-3357913B336E}"/>
              </a:ext>
            </a:extLst>
          </p:cNvPr>
          <p:cNvSpPr txBox="1"/>
          <p:nvPr/>
        </p:nvSpPr>
        <p:spPr>
          <a:xfrm>
            <a:off x="241300" y="1636471"/>
            <a:ext cx="4184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b="1"/>
            </a:lvl1pPr>
          </a:lstStyle>
          <a:p>
            <a:r>
              <a:rPr lang="en-US" altLang="ko-KR" dirty="0">
                <a:solidFill>
                  <a:srgbClr val="00B0F0"/>
                </a:solidFill>
              </a:rPr>
              <a:t>1. </a:t>
            </a:r>
            <a:r>
              <a:rPr lang="ko-KR" altLang="en-US" dirty="0" err="1">
                <a:solidFill>
                  <a:srgbClr val="00B0F0"/>
                </a:solidFill>
              </a:rPr>
              <a:t>Select</a:t>
            </a:r>
            <a:r>
              <a:rPr lang="ko-KR" altLang="en-US" dirty="0">
                <a:solidFill>
                  <a:srgbClr val="00B0F0"/>
                </a:solidFill>
              </a:rPr>
              <a:t> </a:t>
            </a:r>
            <a:r>
              <a:rPr lang="ko-KR" altLang="en-US" dirty="0" err="1">
                <a:solidFill>
                  <a:srgbClr val="00B0F0"/>
                </a:solidFill>
              </a:rPr>
              <a:t>objects</a:t>
            </a:r>
            <a:r>
              <a:rPr lang="ko-KR" altLang="en-US" dirty="0">
                <a:solidFill>
                  <a:srgbClr val="00B0F0"/>
                </a:solidFill>
              </a:rPr>
              <a:t> (LINE </a:t>
            </a:r>
            <a:r>
              <a:rPr lang="ko-KR" altLang="en-US" dirty="0" err="1">
                <a:solidFill>
                  <a:srgbClr val="00B0F0"/>
                </a:solidFill>
              </a:rPr>
              <a:t>or</a:t>
            </a:r>
            <a:r>
              <a:rPr lang="ko-KR" altLang="en-US" dirty="0">
                <a:solidFill>
                  <a:srgbClr val="00B0F0"/>
                </a:solidFill>
              </a:rPr>
              <a:t> POLYLINE)</a:t>
            </a:r>
            <a:endParaRPr lang="en-US" altLang="ko-KR" dirty="0">
              <a:solidFill>
                <a:srgbClr val="00B0F0"/>
              </a:solidFill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D5B6C80B-9888-03F3-735E-CC9D47E023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6237" y="1704472"/>
            <a:ext cx="3041882" cy="76993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5C77EA2-0813-16FB-67AE-908F04E71FEC}"/>
              </a:ext>
            </a:extLst>
          </p:cNvPr>
          <p:cNvSpPr txBox="1"/>
          <p:nvPr/>
        </p:nvSpPr>
        <p:spPr>
          <a:xfrm>
            <a:off x="241300" y="2598496"/>
            <a:ext cx="43100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b="1"/>
            </a:lvl1pPr>
          </a:lstStyle>
          <a:p>
            <a:r>
              <a:rPr lang="en-US" altLang="ko-KR" dirty="0">
                <a:solidFill>
                  <a:srgbClr val="00B0F0"/>
                </a:solidFill>
              </a:rPr>
              <a:t>2. Select reference dimension line </a:t>
            </a:r>
          </a:p>
          <a:p>
            <a:r>
              <a:rPr lang="en-US" altLang="ko-KR" dirty="0">
                <a:solidFill>
                  <a:srgbClr val="00B0F0"/>
                </a:solidFill>
              </a:rPr>
              <a:t>   (Press Enter to use last reference):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FEF1162-9DB0-E830-FEE7-4FBEA55A3A8D}"/>
              </a:ext>
            </a:extLst>
          </p:cNvPr>
          <p:cNvSpPr txBox="1"/>
          <p:nvPr/>
        </p:nvSpPr>
        <p:spPr>
          <a:xfrm>
            <a:off x="241300" y="3970147"/>
            <a:ext cx="407521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b="1"/>
            </a:lvl1pPr>
          </a:lstStyle>
          <a:p>
            <a:r>
              <a:rPr lang="en-US" altLang="ko-KR" dirty="0">
                <a:solidFill>
                  <a:srgbClr val="00B0F0"/>
                </a:solidFill>
              </a:rPr>
              <a:t>3. Enter Direction </a:t>
            </a:r>
            <a:br>
              <a:rPr lang="en-US" altLang="ko-KR" dirty="0">
                <a:solidFill>
                  <a:srgbClr val="00B0F0"/>
                </a:solidFill>
              </a:rPr>
            </a:br>
            <a:r>
              <a:rPr lang="en-US" altLang="ko-KR" dirty="0">
                <a:solidFill>
                  <a:srgbClr val="00B0F0"/>
                </a:solidFill>
              </a:rPr>
              <a:t>    (1:Up, 2:Down, 3:Left, 4:Right, </a:t>
            </a:r>
            <a:br>
              <a:rPr lang="en-US" altLang="ko-KR" dirty="0">
                <a:solidFill>
                  <a:srgbClr val="00B0F0"/>
                </a:solidFill>
              </a:rPr>
            </a:br>
            <a:r>
              <a:rPr lang="en-US" altLang="ko-KR" dirty="0">
                <a:solidFill>
                  <a:srgbClr val="00B0F0"/>
                </a:solidFill>
              </a:rPr>
              <a:t>    13:Up+Left, 14:Up+Right, </a:t>
            </a:r>
          </a:p>
          <a:p>
            <a:r>
              <a:rPr lang="en-US" altLang="ko-KR" dirty="0">
                <a:solidFill>
                  <a:srgbClr val="00B0F0"/>
                </a:solidFill>
              </a:rPr>
              <a:t>    23:Down+Left, 24:Down+Right, </a:t>
            </a:r>
            <a:br>
              <a:rPr lang="en-US" altLang="ko-KR" dirty="0">
                <a:solidFill>
                  <a:srgbClr val="00B0F0"/>
                </a:solidFill>
              </a:rPr>
            </a:br>
            <a:r>
              <a:rPr lang="en-US" altLang="ko-KR" dirty="0">
                <a:solidFill>
                  <a:srgbClr val="00B0F0"/>
                </a:solidFill>
              </a:rPr>
              <a:t>    0:All)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5C9BCFE-5D2D-78F6-B607-7392E87A696B}"/>
              </a:ext>
            </a:extLst>
          </p:cNvPr>
          <p:cNvSpPr txBox="1"/>
          <p:nvPr/>
        </p:nvSpPr>
        <p:spPr>
          <a:xfrm>
            <a:off x="812800" y="2082432"/>
            <a:ext cx="22765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/>
              <a:t>대상 타겟 객체 선택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6F276FD-E812-9774-B8E0-01B831F89882}"/>
              </a:ext>
            </a:extLst>
          </p:cNvPr>
          <p:cNvSpPr txBox="1"/>
          <p:nvPr/>
        </p:nvSpPr>
        <p:spPr>
          <a:xfrm>
            <a:off x="812800" y="3261293"/>
            <a:ext cx="19639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/>
              <a:t>참조 </a:t>
            </a:r>
            <a:r>
              <a:rPr lang="ko-KR" altLang="en-US" b="1" dirty="0" err="1"/>
              <a:t>치수선</a:t>
            </a:r>
            <a:r>
              <a:rPr lang="ko-KR" altLang="en-US" b="1" dirty="0"/>
              <a:t> 선택</a:t>
            </a: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A3EF63AE-F9C3-1BCB-4FB9-D1C8BE6F31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6237" y="2697008"/>
            <a:ext cx="5377514" cy="3953258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14D0CECA-52CA-DC4C-C066-8F5EA8925ACD}"/>
              </a:ext>
            </a:extLst>
          </p:cNvPr>
          <p:cNvSpPr/>
          <p:nvPr/>
        </p:nvSpPr>
        <p:spPr>
          <a:xfrm>
            <a:off x="6581775" y="2697008"/>
            <a:ext cx="3448050" cy="960592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Up</a:t>
            </a:r>
            <a:endParaRPr lang="ko-KR" altLang="en-US" b="1" dirty="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C86D2CD-0B81-9894-C63F-DC3D0F6FA209}"/>
              </a:ext>
            </a:extLst>
          </p:cNvPr>
          <p:cNvSpPr/>
          <p:nvPr/>
        </p:nvSpPr>
        <p:spPr>
          <a:xfrm>
            <a:off x="6581775" y="5689674"/>
            <a:ext cx="3448050" cy="960592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Down</a:t>
            </a:r>
            <a:endParaRPr lang="ko-KR" altLang="en-US" b="1" dirty="0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165A01F-6AA3-2728-3E97-30F3A18811EF}"/>
              </a:ext>
            </a:extLst>
          </p:cNvPr>
          <p:cNvSpPr/>
          <p:nvPr/>
        </p:nvSpPr>
        <p:spPr>
          <a:xfrm>
            <a:off x="5576237" y="3691203"/>
            <a:ext cx="1005538" cy="1998470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Left</a:t>
            </a:r>
            <a:endParaRPr lang="ko-KR" altLang="en-US" b="1" dirty="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DEA97FB-52E9-C806-9789-26AEF03777F8}"/>
              </a:ext>
            </a:extLst>
          </p:cNvPr>
          <p:cNvSpPr/>
          <p:nvPr/>
        </p:nvSpPr>
        <p:spPr>
          <a:xfrm>
            <a:off x="9948213" y="3691203"/>
            <a:ext cx="1005538" cy="1998470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Right</a:t>
            </a:r>
            <a:endParaRPr lang="ko-KR" altLang="en-US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D56A6BD-75C1-A1B3-DD98-B2DCCF433252}"/>
              </a:ext>
            </a:extLst>
          </p:cNvPr>
          <p:cNvSpPr txBox="1"/>
          <p:nvPr/>
        </p:nvSpPr>
        <p:spPr>
          <a:xfrm>
            <a:off x="247650" y="556825"/>
            <a:ext cx="7391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※ 1</a:t>
            </a:r>
            <a:r>
              <a:rPr lang="ko-KR" altLang="en-US" sz="1400" b="1" dirty="0"/>
              <a:t>번 타겟 선택 단계를 제외한 모든 단계는 바로 직전 값을 기억하고 있습니다</a:t>
            </a:r>
            <a:r>
              <a:rPr lang="en-US" altLang="ko-KR" sz="1400" b="1" dirty="0"/>
              <a:t>. </a:t>
            </a:r>
          </a:p>
          <a:p>
            <a:r>
              <a:rPr lang="en-US" altLang="ko-KR" sz="1400" b="1" dirty="0"/>
              <a:t>    (</a:t>
            </a:r>
            <a:r>
              <a:rPr lang="ko-KR" altLang="en-US" sz="1400" b="1" dirty="0"/>
              <a:t>열심히 </a:t>
            </a:r>
            <a:r>
              <a:rPr lang="en-US" altLang="ko-KR" sz="1400" b="1" dirty="0" err="1"/>
              <a:t>SpaceBar</a:t>
            </a:r>
            <a:r>
              <a:rPr lang="ko-KR" altLang="en-US" sz="1400" b="1" dirty="0"/>
              <a:t>만 누르세요 </a:t>
            </a:r>
            <a:r>
              <a:rPr lang="en-US" altLang="ko-KR" sz="1400" b="1" dirty="0"/>
              <a:t>^^)</a:t>
            </a:r>
            <a:endParaRPr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8114081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B9C84-16F7-9FC3-5C27-8310D7674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CBC60D43-B951-05D8-EC7A-C59D8565D8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2387" y="1362914"/>
            <a:ext cx="2981325" cy="43148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88C8E24-2B08-D895-880D-00C5EE7DF914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</a:rPr>
              <a:t>사용방법 </a:t>
            </a:r>
            <a:r>
              <a:rPr lang="en-US" altLang="ko-KR" sz="2400" b="1" dirty="0">
                <a:solidFill>
                  <a:schemeClr val="bg1"/>
                </a:solidFill>
              </a:rPr>
              <a:t>– </a:t>
            </a:r>
            <a:r>
              <a:rPr lang="ko-KR" altLang="en-US" sz="2400" b="1" dirty="0">
                <a:solidFill>
                  <a:schemeClr val="bg1"/>
                </a:solidFill>
              </a:rPr>
              <a:t>입력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A2B4BF-1925-2AD7-CD54-B7771CD6DD0F}"/>
              </a:ext>
            </a:extLst>
          </p:cNvPr>
          <p:cNvSpPr txBox="1"/>
          <p:nvPr/>
        </p:nvSpPr>
        <p:spPr>
          <a:xfrm>
            <a:off x="241300" y="2822018"/>
            <a:ext cx="2463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b="1"/>
            </a:lvl1pPr>
          </a:lstStyle>
          <a:p>
            <a:r>
              <a:rPr lang="en-US" altLang="ko-KR" dirty="0">
                <a:solidFill>
                  <a:srgbClr val="00B0F0"/>
                </a:solidFill>
              </a:rPr>
              <a:t>5. Enter Offset Value</a:t>
            </a: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D3C86975-C12F-145D-A0F0-C120A9E28058}"/>
              </a:ext>
            </a:extLst>
          </p:cNvPr>
          <p:cNvCxnSpPr>
            <a:cxnSpLocks/>
          </p:cNvCxnSpPr>
          <p:nvPr/>
        </p:nvCxnSpPr>
        <p:spPr>
          <a:xfrm>
            <a:off x="7883525" y="3044825"/>
            <a:ext cx="0" cy="650875"/>
          </a:xfrm>
          <a:prstGeom prst="straightConnector1">
            <a:avLst/>
          </a:prstGeom>
          <a:ln>
            <a:solidFill>
              <a:schemeClr val="bg1"/>
            </a:solidFill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연결선: 꺾임 12">
            <a:extLst>
              <a:ext uri="{FF2B5EF4-FFF2-40B4-BE49-F238E27FC236}">
                <a16:creationId xmlns:a16="http://schemas.microsoft.com/office/drawing/2014/main" id="{70407B84-E3E0-B976-6377-D536FBAC4F6F}"/>
              </a:ext>
            </a:extLst>
          </p:cNvPr>
          <p:cNvCxnSpPr>
            <a:cxnSpLocks/>
            <a:endCxn id="18" idx="3"/>
          </p:cNvCxnSpPr>
          <p:nvPr/>
        </p:nvCxnSpPr>
        <p:spPr>
          <a:xfrm rot="10800000">
            <a:off x="4490797" y="849587"/>
            <a:ext cx="3392732" cy="2512742"/>
          </a:xfrm>
          <a:prstGeom prst="bentConnector3">
            <a:avLst/>
          </a:prstGeom>
          <a:ln>
            <a:solidFill>
              <a:srgbClr val="00B050"/>
            </a:solidFill>
            <a:headEnd type="oval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88619A4-40A2-3138-F5A4-A2D8F8FEB06D}"/>
              </a:ext>
            </a:extLst>
          </p:cNvPr>
          <p:cNvSpPr txBox="1"/>
          <p:nvPr/>
        </p:nvSpPr>
        <p:spPr>
          <a:xfrm>
            <a:off x="241300" y="664921"/>
            <a:ext cx="4249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b="1"/>
            </a:lvl1pPr>
          </a:lstStyle>
          <a:p>
            <a:r>
              <a:rPr lang="en-US" altLang="ko-KR" dirty="0">
                <a:solidFill>
                  <a:srgbClr val="00B0F0"/>
                </a:solidFill>
              </a:rPr>
              <a:t>4. Enter Dimension Line Offset Value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E751B91-F980-2AF6-34C3-275B9CBFE239}"/>
              </a:ext>
            </a:extLst>
          </p:cNvPr>
          <p:cNvSpPr txBox="1"/>
          <p:nvPr/>
        </p:nvSpPr>
        <p:spPr>
          <a:xfrm>
            <a:off x="812800" y="1119213"/>
            <a:ext cx="31999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 err="1"/>
              <a:t>최외각</a:t>
            </a:r>
            <a:r>
              <a:rPr lang="ko-KR" altLang="en-US" b="1" dirty="0"/>
              <a:t> 점으로부터 </a:t>
            </a:r>
            <a:r>
              <a:rPr lang="ko-KR" altLang="en-US" b="1" dirty="0" err="1"/>
              <a:t>이격</a:t>
            </a:r>
            <a:r>
              <a:rPr lang="ko-KR" altLang="en-US" b="1" dirty="0"/>
              <a:t> 거리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A4EA6FD-87BB-2CBB-2E2A-E0AFFAF91AF4}"/>
              </a:ext>
            </a:extLst>
          </p:cNvPr>
          <p:cNvSpPr txBox="1"/>
          <p:nvPr/>
        </p:nvSpPr>
        <p:spPr>
          <a:xfrm>
            <a:off x="946150" y="1458135"/>
            <a:ext cx="5464226" cy="888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dirty="0"/>
              <a:t>Ex)</a:t>
            </a:r>
            <a:r>
              <a:rPr lang="ko-KR" altLang="en-US" sz="1200" b="1" dirty="0"/>
              <a:t> </a:t>
            </a:r>
            <a:endParaRPr lang="en-US" altLang="ko-KR" sz="1200" b="1" dirty="0"/>
          </a:p>
          <a:p>
            <a:pPr>
              <a:lnSpc>
                <a:spcPct val="150000"/>
              </a:lnSpc>
            </a:pPr>
            <a:r>
              <a:rPr lang="en-US" altLang="ko-KR" sz="1200" b="1" dirty="0"/>
              <a:t>  1.</a:t>
            </a:r>
            <a:r>
              <a:rPr lang="ko-KR" altLang="en-US" sz="1200" b="1" dirty="0"/>
              <a:t>상 옵션 </a:t>
            </a:r>
            <a:r>
              <a:rPr lang="en-US" altLang="ko-KR" sz="1200" b="1" dirty="0"/>
              <a:t>+ 1000 </a:t>
            </a:r>
            <a:r>
              <a:rPr lang="en-US" altLang="ko-KR" sz="1200" b="1" dirty="0">
                <a:sym typeface="Wingdings" panose="05000000000000000000" pitchFamily="2" charset="2"/>
              </a:rPr>
              <a:t> </a:t>
            </a:r>
            <a:r>
              <a:rPr lang="ko-KR" altLang="en-US" sz="1200" b="1" dirty="0" err="1">
                <a:sym typeface="Wingdings" panose="05000000000000000000" pitchFamily="2" charset="2"/>
              </a:rPr>
              <a:t>최상단</a:t>
            </a:r>
            <a:r>
              <a:rPr lang="ko-KR" altLang="en-US" sz="1200" b="1" dirty="0">
                <a:sym typeface="Wingdings" panose="05000000000000000000" pitchFamily="2" charset="2"/>
              </a:rPr>
              <a:t> 점으로부터 </a:t>
            </a:r>
            <a:r>
              <a:rPr lang="en-US" altLang="ko-KR" sz="1200" b="1" dirty="0">
                <a:sym typeface="Wingdings" panose="05000000000000000000" pitchFamily="2" charset="2"/>
              </a:rPr>
              <a:t>1000 </a:t>
            </a:r>
            <a:r>
              <a:rPr lang="ko-KR" altLang="en-US" sz="1200" b="1" dirty="0">
                <a:sym typeface="Wingdings" panose="05000000000000000000" pitchFamily="2" charset="2"/>
              </a:rPr>
              <a:t>떨어진 곳에 </a:t>
            </a:r>
            <a:r>
              <a:rPr lang="ko-KR" altLang="en-US" sz="1200" b="1" dirty="0" err="1">
                <a:sym typeface="Wingdings" panose="05000000000000000000" pitchFamily="2" charset="2"/>
              </a:rPr>
              <a:t>치수선</a:t>
            </a:r>
            <a:r>
              <a:rPr lang="ko-KR" altLang="en-US" sz="1200" b="1" dirty="0">
                <a:sym typeface="Wingdings" panose="05000000000000000000" pitchFamily="2" charset="2"/>
              </a:rPr>
              <a:t> 생성</a:t>
            </a:r>
            <a:endParaRPr lang="en-US" altLang="ko-KR" sz="1200" b="1" dirty="0"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ym typeface="Wingdings" panose="05000000000000000000" pitchFamily="2" charset="2"/>
              </a:rPr>
              <a:t>  3.</a:t>
            </a:r>
            <a:r>
              <a:rPr lang="ko-KR" altLang="en-US" sz="1200" b="1" dirty="0">
                <a:sym typeface="Wingdings" panose="05000000000000000000" pitchFamily="2" charset="2"/>
              </a:rPr>
              <a:t>좌 옵션 </a:t>
            </a:r>
            <a:r>
              <a:rPr lang="en-US" altLang="ko-KR" sz="1200" b="1" dirty="0">
                <a:sym typeface="Wingdings" panose="05000000000000000000" pitchFamily="2" charset="2"/>
              </a:rPr>
              <a:t>+ 500  </a:t>
            </a:r>
            <a:r>
              <a:rPr lang="ko-KR" altLang="en-US" sz="1200" b="1" dirty="0">
                <a:sym typeface="Wingdings" panose="05000000000000000000" pitchFamily="2" charset="2"/>
              </a:rPr>
              <a:t>가장 좌측 점으로부터 </a:t>
            </a:r>
            <a:r>
              <a:rPr lang="en-US" altLang="ko-KR" sz="1200" b="1" dirty="0">
                <a:sym typeface="Wingdings" panose="05000000000000000000" pitchFamily="2" charset="2"/>
              </a:rPr>
              <a:t>500 </a:t>
            </a:r>
            <a:r>
              <a:rPr lang="ko-KR" altLang="en-US" sz="1200" b="1" dirty="0">
                <a:sym typeface="Wingdings" panose="05000000000000000000" pitchFamily="2" charset="2"/>
              </a:rPr>
              <a:t>떨어진 곳에 </a:t>
            </a:r>
            <a:r>
              <a:rPr lang="ko-KR" altLang="en-US" sz="1200" b="1" dirty="0" err="1">
                <a:sym typeface="Wingdings" panose="05000000000000000000" pitchFamily="2" charset="2"/>
              </a:rPr>
              <a:t>치수선</a:t>
            </a:r>
            <a:r>
              <a:rPr lang="ko-KR" altLang="en-US" sz="1200" b="1" dirty="0">
                <a:sym typeface="Wingdings" panose="05000000000000000000" pitchFamily="2" charset="2"/>
              </a:rPr>
              <a:t> 생성 </a:t>
            </a:r>
            <a:endParaRPr lang="en-US" altLang="ko-KR" sz="12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B2D7A61-DFE0-A02E-A457-67551A8DBA12}"/>
              </a:ext>
            </a:extLst>
          </p:cNvPr>
          <p:cNvSpPr txBox="1"/>
          <p:nvPr/>
        </p:nvSpPr>
        <p:spPr>
          <a:xfrm>
            <a:off x="812800" y="3276310"/>
            <a:ext cx="14205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 err="1"/>
              <a:t>치수선</a:t>
            </a:r>
            <a:r>
              <a:rPr lang="ko-KR" altLang="en-US" b="1" dirty="0"/>
              <a:t> 높이</a:t>
            </a: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83615F29-5AFE-AB5D-5DBC-D4D54653CC52}"/>
              </a:ext>
            </a:extLst>
          </p:cNvPr>
          <p:cNvCxnSpPr>
            <a:cxnSpLocks/>
          </p:cNvCxnSpPr>
          <p:nvPr/>
        </p:nvCxnSpPr>
        <p:spPr>
          <a:xfrm>
            <a:off x="8169275" y="2416175"/>
            <a:ext cx="0" cy="650875"/>
          </a:xfrm>
          <a:prstGeom prst="straightConnector1">
            <a:avLst/>
          </a:prstGeom>
          <a:ln>
            <a:solidFill>
              <a:schemeClr val="bg1"/>
            </a:solidFill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id="{98F52542-A3AF-4407-AF37-DCF5E4611C41}"/>
              </a:ext>
            </a:extLst>
          </p:cNvPr>
          <p:cNvCxnSpPr>
            <a:cxnSpLocks/>
            <a:endCxn id="3" idx="3"/>
          </p:cNvCxnSpPr>
          <p:nvPr/>
        </p:nvCxnSpPr>
        <p:spPr>
          <a:xfrm rot="10800000" flipV="1">
            <a:off x="2705051" y="2733672"/>
            <a:ext cx="5464226" cy="273011"/>
          </a:xfrm>
          <a:prstGeom prst="bentConnector3">
            <a:avLst/>
          </a:prstGeom>
          <a:ln>
            <a:solidFill>
              <a:srgbClr val="00B050"/>
            </a:solidFill>
            <a:headEnd type="oval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15458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208</Words>
  <Application>Microsoft Office PowerPoint</Application>
  <PresentationFormat>와이드스크린</PresentationFormat>
  <Paragraphs>28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YIMIKJU</dc:creator>
  <cp:lastModifiedBy>YIMIKJU</cp:lastModifiedBy>
  <cp:revision>5</cp:revision>
  <dcterms:created xsi:type="dcterms:W3CDTF">2025-05-19T10:59:44Z</dcterms:created>
  <dcterms:modified xsi:type="dcterms:W3CDTF">2025-05-19T12:01:25Z</dcterms:modified>
</cp:coreProperties>
</file>